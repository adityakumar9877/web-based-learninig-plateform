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5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8DC0CE4-CE87-432B-8411-F5909B64637A}" type="datetimeFigureOut">
              <a:rPr lang="en-IN" smtClean="0"/>
              <a:t>12-06-2023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B2FC59-587A-49FF-910E-25B17155C98F}"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9839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DC0CE4-CE87-432B-8411-F5909B64637A}" type="datetimeFigureOut">
              <a:rPr lang="en-IN" smtClean="0"/>
              <a:t>12-06-2023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B2FC59-587A-49FF-910E-25B17155C98F}" type="slidenum">
              <a:rPr lang="en-IN" smtClean="0"/>
              <a:t>‹#›</a:t>
            </a:fld>
            <a:endParaRPr lang="en-IN"/>
          </a:p>
        </p:txBody>
      </p:sp>
    </p:spTree>
    <p:extLst>
      <p:ext uri="{BB962C8B-B14F-4D97-AF65-F5344CB8AC3E}">
        <p14:creationId xmlns:p14="http://schemas.microsoft.com/office/powerpoint/2010/main" val="2303797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DC0CE4-CE87-432B-8411-F5909B64637A}" type="datetimeFigureOut">
              <a:rPr lang="en-IN" smtClean="0"/>
              <a:t>12-06-2023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B2FC59-587A-49FF-910E-25B17155C98F}" type="slidenum">
              <a:rPr lang="en-IN" smtClean="0"/>
              <a:t>‹#›</a:t>
            </a:fld>
            <a:endParaRPr lang="en-IN"/>
          </a:p>
        </p:txBody>
      </p:sp>
    </p:spTree>
    <p:extLst>
      <p:ext uri="{BB962C8B-B14F-4D97-AF65-F5344CB8AC3E}">
        <p14:creationId xmlns:p14="http://schemas.microsoft.com/office/powerpoint/2010/main" val="175011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8DC0CE4-CE87-432B-8411-F5909B64637A}" type="datetimeFigureOut">
              <a:rPr lang="en-IN" smtClean="0"/>
              <a:t>12-06-2023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B2FC59-587A-49FF-910E-25B17155C98F}" type="slidenum">
              <a:rPr lang="en-IN" smtClean="0"/>
              <a:t>‹#›</a:t>
            </a:fld>
            <a:endParaRPr lang="en-IN"/>
          </a:p>
        </p:txBody>
      </p:sp>
    </p:spTree>
    <p:extLst>
      <p:ext uri="{BB962C8B-B14F-4D97-AF65-F5344CB8AC3E}">
        <p14:creationId xmlns:p14="http://schemas.microsoft.com/office/powerpoint/2010/main" val="928808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DC0CE4-CE87-432B-8411-F5909B64637A}" type="datetimeFigureOut">
              <a:rPr lang="en-IN" smtClean="0"/>
              <a:t>12-06-2023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5B2FC59-587A-49FF-910E-25B17155C98F}" type="slidenum">
              <a:rPr lang="en-IN" smtClean="0"/>
              <a:t>‹#›</a:t>
            </a:fld>
            <a:endParaRPr lang="en-IN"/>
          </a:p>
        </p:txBody>
      </p:sp>
    </p:spTree>
    <p:extLst>
      <p:ext uri="{BB962C8B-B14F-4D97-AF65-F5344CB8AC3E}">
        <p14:creationId xmlns:p14="http://schemas.microsoft.com/office/powerpoint/2010/main" val="1539852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DC0CE4-CE87-432B-8411-F5909B64637A}" type="datetimeFigureOut">
              <a:rPr lang="en-IN" smtClean="0"/>
              <a:t>12-06-2023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5B2FC59-587A-49FF-910E-25B17155C98F}" type="slidenum">
              <a:rPr lang="en-IN" smtClean="0"/>
              <a:t>‹#›</a:t>
            </a:fld>
            <a:endParaRPr lang="en-IN"/>
          </a:p>
        </p:txBody>
      </p:sp>
    </p:spTree>
    <p:extLst>
      <p:ext uri="{BB962C8B-B14F-4D97-AF65-F5344CB8AC3E}">
        <p14:creationId xmlns:p14="http://schemas.microsoft.com/office/powerpoint/2010/main" val="1743672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DC0CE4-CE87-432B-8411-F5909B64637A}" type="datetimeFigureOut">
              <a:rPr lang="en-IN" smtClean="0"/>
              <a:t>12-06-2023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5B2FC59-587A-49FF-910E-25B17155C98F}" type="slidenum">
              <a:rPr lang="en-IN" smtClean="0"/>
              <a:t>‹#›</a:t>
            </a:fld>
            <a:endParaRPr lang="en-IN"/>
          </a:p>
        </p:txBody>
      </p:sp>
    </p:spTree>
    <p:extLst>
      <p:ext uri="{BB962C8B-B14F-4D97-AF65-F5344CB8AC3E}">
        <p14:creationId xmlns:p14="http://schemas.microsoft.com/office/powerpoint/2010/main" val="1979914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DC0CE4-CE87-432B-8411-F5909B64637A}" type="datetimeFigureOut">
              <a:rPr lang="en-IN" smtClean="0"/>
              <a:t>12-06-2023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B2FC59-587A-49FF-910E-25B17155C98F}" type="slidenum">
              <a:rPr lang="en-IN" smtClean="0"/>
              <a:t>‹#›</a:t>
            </a:fld>
            <a:endParaRPr lang="en-IN"/>
          </a:p>
        </p:txBody>
      </p:sp>
    </p:spTree>
    <p:extLst>
      <p:ext uri="{BB962C8B-B14F-4D97-AF65-F5344CB8AC3E}">
        <p14:creationId xmlns:p14="http://schemas.microsoft.com/office/powerpoint/2010/main" val="3117968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DC0CE4-CE87-432B-8411-F5909B64637A}" type="datetimeFigureOut">
              <a:rPr lang="en-IN" smtClean="0"/>
              <a:t>12-06-2023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B2FC59-587A-49FF-910E-25B17155C98F}" type="slidenum">
              <a:rPr lang="en-IN" smtClean="0"/>
              <a:t>‹#›</a:t>
            </a:fld>
            <a:endParaRPr lang="en-IN"/>
          </a:p>
        </p:txBody>
      </p:sp>
    </p:spTree>
    <p:extLst>
      <p:ext uri="{BB962C8B-B14F-4D97-AF65-F5344CB8AC3E}">
        <p14:creationId xmlns:p14="http://schemas.microsoft.com/office/powerpoint/2010/main" val="1920327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E8DC0CE4-CE87-432B-8411-F5909B64637A}" type="datetimeFigureOut">
              <a:rPr lang="en-IN" smtClean="0"/>
              <a:t>12-06-2023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5B2FC59-587A-49FF-910E-25B17155C98F}" type="slidenum">
              <a:rPr lang="en-IN" smtClean="0"/>
              <a:t>‹#›</a:t>
            </a:fld>
            <a:endParaRPr lang="en-IN"/>
          </a:p>
        </p:txBody>
      </p:sp>
    </p:spTree>
    <p:extLst>
      <p:ext uri="{BB962C8B-B14F-4D97-AF65-F5344CB8AC3E}">
        <p14:creationId xmlns:p14="http://schemas.microsoft.com/office/powerpoint/2010/main" val="1560352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DC0CE4-CE87-432B-8411-F5909B64637A}" type="datetimeFigureOut">
              <a:rPr lang="en-IN" smtClean="0"/>
              <a:t>12-06-2023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B2FC59-587A-49FF-910E-25B17155C98F}" type="slidenum">
              <a:rPr lang="en-IN" smtClean="0"/>
              <a:t>‹#›</a:t>
            </a:fld>
            <a:endParaRPr lang="en-IN"/>
          </a:p>
        </p:txBody>
      </p:sp>
    </p:spTree>
    <p:extLst>
      <p:ext uri="{BB962C8B-B14F-4D97-AF65-F5344CB8AC3E}">
        <p14:creationId xmlns:p14="http://schemas.microsoft.com/office/powerpoint/2010/main" val="25335498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DC0CE4-CE87-432B-8411-F5909B64637A}" type="datetimeFigureOut">
              <a:rPr lang="en-IN" smtClean="0"/>
              <a:t>12-06-2023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B2FC59-587A-49FF-910E-25B17155C98F}"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2725940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DC0CE4-CE87-432B-8411-F5909B64637A}" type="datetimeFigureOut">
              <a:rPr lang="en-IN" smtClean="0"/>
              <a:t>12-06-2023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B2FC59-587A-49FF-910E-25B17155C98F}" type="slidenum">
              <a:rPr lang="en-IN" smtClean="0"/>
              <a:t>‹#›</a:t>
            </a:fld>
            <a:endParaRPr lang="en-IN"/>
          </a:p>
        </p:txBody>
      </p:sp>
    </p:spTree>
    <p:extLst>
      <p:ext uri="{BB962C8B-B14F-4D97-AF65-F5344CB8AC3E}">
        <p14:creationId xmlns:p14="http://schemas.microsoft.com/office/powerpoint/2010/main" val="29044202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DC0CE4-CE87-432B-8411-F5909B64637A}" type="datetimeFigureOut">
              <a:rPr lang="en-IN" smtClean="0"/>
              <a:t>12-06-2023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B2FC59-587A-49FF-910E-25B17155C98F}"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5995335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DC0CE4-CE87-432B-8411-F5909B64637A}" type="datetimeFigureOut">
              <a:rPr lang="en-IN" smtClean="0"/>
              <a:t>12-06-2023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B2FC59-587A-49FF-910E-25B17155C98F}" type="slidenum">
              <a:rPr lang="en-IN" smtClean="0"/>
              <a:t>‹#›</a:t>
            </a:fld>
            <a:endParaRPr lang="en-IN"/>
          </a:p>
        </p:txBody>
      </p:sp>
    </p:spTree>
    <p:extLst>
      <p:ext uri="{BB962C8B-B14F-4D97-AF65-F5344CB8AC3E}">
        <p14:creationId xmlns:p14="http://schemas.microsoft.com/office/powerpoint/2010/main" val="3492666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DC0CE4-CE87-432B-8411-F5909B64637A}" type="datetimeFigureOut">
              <a:rPr lang="en-IN" smtClean="0"/>
              <a:t>12-06-2023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B2FC59-587A-49FF-910E-25B17155C98F}" type="slidenum">
              <a:rPr lang="en-IN" smtClean="0"/>
              <a:t>‹#›</a:t>
            </a:fld>
            <a:endParaRPr lang="en-IN"/>
          </a:p>
        </p:txBody>
      </p:sp>
    </p:spTree>
    <p:extLst>
      <p:ext uri="{BB962C8B-B14F-4D97-AF65-F5344CB8AC3E}">
        <p14:creationId xmlns:p14="http://schemas.microsoft.com/office/powerpoint/2010/main" val="1913057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DC0CE4-CE87-432B-8411-F5909B64637A}" type="datetimeFigureOut">
              <a:rPr lang="en-IN" smtClean="0"/>
              <a:t>12-06-2023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B2FC59-587A-49FF-910E-25B17155C98F}" type="slidenum">
              <a:rPr lang="en-IN" smtClean="0"/>
              <a:t>‹#›</a:t>
            </a:fld>
            <a:endParaRPr lang="en-IN"/>
          </a:p>
        </p:txBody>
      </p:sp>
    </p:spTree>
    <p:extLst>
      <p:ext uri="{BB962C8B-B14F-4D97-AF65-F5344CB8AC3E}">
        <p14:creationId xmlns:p14="http://schemas.microsoft.com/office/powerpoint/2010/main" val="3457666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E8DC0CE4-CE87-432B-8411-F5909B64637A}" type="datetimeFigureOut">
              <a:rPr lang="en-IN" smtClean="0"/>
              <a:t>12-06-2023</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B5B2FC59-587A-49FF-910E-25B17155C98F}" type="slidenum">
              <a:rPr lang="en-IN" smtClean="0"/>
              <a:t>‹#›</a:t>
            </a:fld>
            <a:endParaRPr lang="en-IN"/>
          </a:p>
        </p:txBody>
      </p:sp>
    </p:spTree>
    <p:extLst>
      <p:ext uri="{BB962C8B-B14F-4D97-AF65-F5344CB8AC3E}">
        <p14:creationId xmlns:p14="http://schemas.microsoft.com/office/powerpoint/2010/main" val="250221714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3B45284-4FB3-4532-B8DE-843022CEF42F}"/>
              </a:ext>
            </a:extLst>
          </p:cNvPr>
          <p:cNvSpPr txBox="1"/>
          <p:nvPr/>
        </p:nvSpPr>
        <p:spPr>
          <a:xfrm flipH="1">
            <a:off x="4706470" y="2092385"/>
            <a:ext cx="3655209" cy="769441"/>
          </a:xfrm>
          <a:prstGeom prst="rect">
            <a:avLst/>
          </a:prstGeom>
          <a:noFill/>
        </p:spPr>
        <p:txBody>
          <a:bodyPr wrap="square" rtlCol="0">
            <a:spAutoFit/>
          </a:bodyPr>
          <a:lstStyle/>
          <a:p>
            <a:r>
              <a:rPr lang="en-IN" sz="4400" dirty="0">
                <a:solidFill>
                  <a:srgbClr val="FF0000"/>
                </a:solidFill>
                <a:highlight>
                  <a:srgbClr val="C0C0C0"/>
                </a:highlight>
                <a:latin typeface="Arial Rounded MT Bold" panose="020F0704030504030204" pitchFamily="34" charset="0"/>
              </a:rPr>
              <a:t>Tech Yantra </a:t>
            </a:r>
          </a:p>
        </p:txBody>
      </p:sp>
      <p:sp>
        <p:nvSpPr>
          <p:cNvPr id="5" name="TextBox 4">
            <a:extLst>
              <a:ext uri="{FF2B5EF4-FFF2-40B4-BE49-F238E27FC236}">
                <a16:creationId xmlns:a16="http://schemas.microsoft.com/office/drawing/2014/main" id="{6EA431A1-0579-4CB6-AE8F-411043B6C8AA}"/>
              </a:ext>
            </a:extLst>
          </p:cNvPr>
          <p:cNvSpPr txBox="1"/>
          <p:nvPr/>
        </p:nvSpPr>
        <p:spPr>
          <a:xfrm>
            <a:off x="4882046" y="3580676"/>
            <a:ext cx="3814913" cy="830997"/>
          </a:xfrm>
          <a:prstGeom prst="rect">
            <a:avLst/>
          </a:prstGeom>
          <a:noFill/>
        </p:spPr>
        <p:txBody>
          <a:bodyPr wrap="square" rtlCol="0">
            <a:spAutoFit/>
          </a:bodyPr>
          <a:lstStyle/>
          <a:p>
            <a:r>
              <a:rPr lang="en-IN" sz="2400" b="1" dirty="0">
                <a:solidFill>
                  <a:srgbClr val="C00000"/>
                </a:solidFill>
                <a:highlight>
                  <a:srgbClr val="C0C0C0"/>
                </a:highlight>
              </a:rPr>
              <a:t>SUBMITTED BY:-</a:t>
            </a:r>
          </a:p>
          <a:p>
            <a:r>
              <a:rPr lang="en-IN" sz="2400" b="1">
                <a:solidFill>
                  <a:srgbClr val="C00000"/>
                </a:solidFill>
                <a:highlight>
                  <a:srgbClr val="C0C0C0"/>
                </a:highlight>
              </a:rPr>
              <a:t>Mukesh Kumar</a:t>
            </a:r>
            <a:endParaRPr lang="en-IN" sz="2400" b="1" dirty="0">
              <a:solidFill>
                <a:srgbClr val="C00000"/>
              </a:solidFill>
              <a:highlight>
                <a:srgbClr val="C0C0C0"/>
              </a:highlight>
            </a:endParaRPr>
          </a:p>
        </p:txBody>
      </p:sp>
    </p:spTree>
    <p:extLst>
      <p:ext uri="{BB962C8B-B14F-4D97-AF65-F5344CB8AC3E}">
        <p14:creationId xmlns:p14="http://schemas.microsoft.com/office/powerpoint/2010/main" val="2819239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20000">
              <a:srgbClr val="3DA1C7"/>
            </a:gs>
            <a:gs pos="49000">
              <a:schemeClr val="bg2">
                <a:tint val="97000"/>
                <a:hueMod val="92000"/>
                <a:satMod val="169000"/>
                <a:lumMod val="164000"/>
              </a:schemeClr>
            </a:gs>
            <a:gs pos="99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D5135F-F19B-40C9-A3C6-E7849F7DBA18}"/>
              </a:ext>
            </a:extLst>
          </p:cNvPr>
          <p:cNvSpPr txBox="1"/>
          <p:nvPr/>
        </p:nvSpPr>
        <p:spPr>
          <a:xfrm flipH="1">
            <a:off x="987012" y="1201270"/>
            <a:ext cx="2760234" cy="461665"/>
          </a:xfrm>
          <a:prstGeom prst="rect">
            <a:avLst/>
          </a:prstGeom>
          <a:noFill/>
        </p:spPr>
        <p:txBody>
          <a:bodyPr wrap="square" rtlCol="0">
            <a:spAutoFit/>
          </a:bodyPr>
          <a:lstStyle/>
          <a:p>
            <a:r>
              <a:rPr lang="en-IN" sz="2400" dirty="0">
                <a:latin typeface="Arial Rounded MT Bold" panose="020F0704030504030204" pitchFamily="34" charset="0"/>
              </a:rPr>
              <a:t>INTRODUCTION</a:t>
            </a:r>
          </a:p>
        </p:txBody>
      </p:sp>
      <p:sp>
        <p:nvSpPr>
          <p:cNvPr id="3" name="TextBox 2">
            <a:extLst>
              <a:ext uri="{FF2B5EF4-FFF2-40B4-BE49-F238E27FC236}">
                <a16:creationId xmlns:a16="http://schemas.microsoft.com/office/drawing/2014/main" id="{B42E91A6-DF37-4260-B218-6B442C7E2F32}"/>
              </a:ext>
            </a:extLst>
          </p:cNvPr>
          <p:cNvSpPr txBox="1"/>
          <p:nvPr/>
        </p:nvSpPr>
        <p:spPr>
          <a:xfrm>
            <a:off x="1479884" y="1937084"/>
            <a:ext cx="9444790" cy="2677656"/>
          </a:xfrm>
          <a:prstGeom prst="rect">
            <a:avLst/>
          </a:prstGeom>
          <a:noFill/>
        </p:spPr>
        <p:txBody>
          <a:bodyPr wrap="square" rtlCol="0">
            <a:spAutoFit/>
          </a:bodyPr>
          <a:lstStyle/>
          <a:p>
            <a:endParaRPr lang="en-US" sz="2400" dirty="0"/>
          </a:p>
          <a:p>
            <a:r>
              <a:rPr lang="en-US" sz="2400" dirty="0"/>
              <a:t>Purpose: The tutorial website aims to provide educational resources and tutorials</a:t>
            </a:r>
          </a:p>
          <a:p>
            <a:r>
              <a:rPr lang="en-US" sz="2400" dirty="0"/>
              <a:t>on a specific subject or range of subjects.</a:t>
            </a:r>
          </a:p>
          <a:p>
            <a:r>
              <a:rPr lang="en-US" sz="2400" dirty="0"/>
              <a:t>We hope that achieving better practices on the requested website is a</a:t>
            </a:r>
          </a:p>
          <a:p>
            <a:r>
              <a:rPr lang="en-US" sz="2400" dirty="0"/>
              <a:t>great way to help make the job a success.</a:t>
            </a:r>
            <a:endParaRPr lang="en-IN" sz="2400" dirty="0"/>
          </a:p>
        </p:txBody>
      </p:sp>
    </p:spTree>
    <p:extLst>
      <p:ext uri="{BB962C8B-B14F-4D97-AF65-F5344CB8AC3E}">
        <p14:creationId xmlns:p14="http://schemas.microsoft.com/office/powerpoint/2010/main" val="3581724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45000" t="-2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428568-C032-48A2-9A30-F636B71EF956}"/>
              </a:ext>
            </a:extLst>
          </p:cNvPr>
          <p:cNvSpPr txBox="1"/>
          <p:nvPr/>
        </p:nvSpPr>
        <p:spPr>
          <a:xfrm>
            <a:off x="560873" y="543738"/>
            <a:ext cx="3241607" cy="769441"/>
          </a:xfrm>
          <a:prstGeom prst="rect">
            <a:avLst/>
          </a:prstGeom>
          <a:noFill/>
        </p:spPr>
        <p:txBody>
          <a:bodyPr wrap="square" rtlCol="0">
            <a:spAutoFit/>
          </a:bodyPr>
          <a:lstStyle/>
          <a:p>
            <a:r>
              <a:rPr lang="en-IN" sz="4400" dirty="0"/>
              <a:t>Objectives</a:t>
            </a:r>
          </a:p>
        </p:txBody>
      </p:sp>
      <p:sp>
        <p:nvSpPr>
          <p:cNvPr id="3" name="TextBox 2">
            <a:extLst>
              <a:ext uri="{FF2B5EF4-FFF2-40B4-BE49-F238E27FC236}">
                <a16:creationId xmlns:a16="http://schemas.microsoft.com/office/drawing/2014/main" id="{5277269A-A598-4C1B-879B-BF1D3DE9D84F}"/>
              </a:ext>
            </a:extLst>
          </p:cNvPr>
          <p:cNvSpPr txBox="1"/>
          <p:nvPr/>
        </p:nvSpPr>
        <p:spPr>
          <a:xfrm>
            <a:off x="254549" y="1625292"/>
            <a:ext cx="12414703" cy="4524315"/>
          </a:xfrm>
          <a:prstGeom prst="rect">
            <a:avLst/>
          </a:prstGeom>
          <a:noFill/>
        </p:spPr>
        <p:txBody>
          <a:bodyPr wrap="square" rtlCol="0">
            <a:spAutoFit/>
          </a:bodyPr>
          <a:lstStyle/>
          <a:p>
            <a:r>
              <a:rPr lang="en-US" sz="2400" dirty="0">
                <a:latin typeface="Arial Rounded MT Bold" panose="020F0704030504030204" pitchFamily="34" charset="0"/>
              </a:rPr>
              <a:t>Learning and Education: The primary purpose of a tutorial website is to facilitate learning</a:t>
            </a:r>
          </a:p>
          <a:p>
            <a:r>
              <a:rPr lang="en-US" sz="2400" dirty="0">
                <a:latin typeface="Arial Rounded MT Bold" panose="020F0704030504030204" pitchFamily="34" charset="0"/>
              </a:rPr>
              <a:t>and education. It aims to provide knowledge, skills, and understanding of a particular topic</a:t>
            </a:r>
          </a:p>
          <a:p>
            <a:r>
              <a:rPr lang="en-US" sz="2400" dirty="0">
                <a:latin typeface="Arial Rounded MT Bold" panose="020F0704030504030204" pitchFamily="34" charset="0"/>
              </a:rPr>
              <a:t>or set of topics to the target audience.</a:t>
            </a:r>
          </a:p>
          <a:p>
            <a:r>
              <a:rPr lang="en-US" sz="2400" dirty="0">
                <a:latin typeface="Arial Rounded MT Bold" panose="020F0704030504030204" pitchFamily="34" charset="0"/>
              </a:rPr>
              <a:t>Progressive Learning: Tutorial websites often follow a progressive learning approach,</a:t>
            </a:r>
          </a:p>
          <a:p>
            <a:r>
              <a:rPr lang="en-US" sz="2400" dirty="0">
                <a:latin typeface="Arial Rounded MT Bold" panose="020F0704030504030204" pitchFamily="34" charset="0"/>
              </a:rPr>
              <a:t>starting with the basics and gradually building upon foundational concepts. This allows</a:t>
            </a:r>
          </a:p>
          <a:p>
            <a:r>
              <a:rPr lang="en-US" sz="2400" dirty="0">
                <a:latin typeface="Arial Rounded MT Bold" panose="020F0704030504030204" pitchFamily="34" charset="0"/>
              </a:rPr>
              <a:t>learners to acquire knowledge incrementally and progress to more advanced topics as they</a:t>
            </a:r>
          </a:p>
          <a:p>
            <a:r>
              <a:rPr lang="en-US" sz="2400" dirty="0">
                <a:latin typeface="Arial Rounded MT Bold" panose="020F0704030504030204" pitchFamily="34" charset="0"/>
              </a:rPr>
              <a:t>gain proficiency.</a:t>
            </a:r>
            <a:endParaRPr lang="en-IN" sz="2400" dirty="0">
              <a:latin typeface="Arial Rounded MT Bold" panose="020F0704030504030204" pitchFamily="34" charset="0"/>
            </a:endParaRPr>
          </a:p>
        </p:txBody>
      </p:sp>
    </p:spTree>
    <p:extLst>
      <p:ext uri="{BB962C8B-B14F-4D97-AF65-F5344CB8AC3E}">
        <p14:creationId xmlns:p14="http://schemas.microsoft.com/office/powerpoint/2010/main" val="2845512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5CD3C7-3AE6-4FCE-88A7-165C9EE04804}"/>
              </a:ext>
            </a:extLst>
          </p:cNvPr>
          <p:cNvSpPr txBox="1"/>
          <p:nvPr/>
        </p:nvSpPr>
        <p:spPr>
          <a:xfrm>
            <a:off x="573741" y="654423"/>
            <a:ext cx="3512483" cy="646331"/>
          </a:xfrm>
          <a:prstGeom prst="rect">
            <a:avLst/>
          </a:prstGeom>
          <a:noFill/>
        </p:spPr>
        <p:txBody>
          <a:bodyPr wrap="square" rtlCol="0">
            <a:spAutoFit/>
          </a:bodyPr>
          <a:lstStyle/>
          <a:p>
            <a:r>
              <a:rPr lang="en-IN" sz="3600" dirty="0"/>
              <a:t>Advantages</a:t>
            </a:r>
          </a:p>
        </p:txBody>
      </p:sp>
      <p:sp>
        <p:nvSpPr>
          <p:cNvPr id="4" name="TextBox 3">
            <a:extLst>
              <a:ext uri="{FF2B5EF4-FFF2-40B4-BE49-F238E27FC236}">
                <a16:creationId xmlns:a16="http://schemas.microsoft.com/office/drawing/2014/main" id="{A0B8AEB8-38FA-4A1A-8295-3FAC03B084C1}"/>
              </a:ext>
            </a:extLst>
          </p:cNvPr>
          <p:cNvSpPr txBox="1"/>
          <p:nvPr/>
        </p:nvSpPr>
        <p:spPr>
          <a:xfrm>
            <a:off x="456005" y="2008094"/>
            <a:ext cx="11421035" cy="2862322"/>
          </a:xfrm>
          <a:prstGeom prst="rect">
            <a:avLst/>
          </a:prstGeom>
          <a:noFill/>
        </p:spPr>
        <p:txBody>
          <a:bodyPr wrap="square" rtlCol="0">
            <a:spAutoFit/>
          </a:bodyPr>
          <a:lstStyle/>
          <a:p>
            <a:pPr algn="ctr"/>
            <a:r>
              <a:rPr lang="en-US" sz="3600" b="0" i="0" dirty="0">
                <a:solidFill>
                  <a:srgbClr val="374151"/>
                </a:solidFill>
                <a:effectLst/>
                <a:latin typeface="Söhne"/>
              </a:rPr>
              <a:t>Tutorial websites provide easy access to educational materials anytime and anywhere with an internet connection. Learners can access tutorials from the comfort of their homes or any other location, eliminating the need for physical attendance in a traditional classroom.</a:t>
            </a:r>
            <a:endParaRPr lang="en-IN" sz="3200" dirty="0"/>
          </a:p>
        </p:txBody>
      </p:sp>
    </p:spTree>
    <p:extLst>
      <p:ext uri="{BB962C8B-B14F-4D97-AF65-F5344CB8AC3E}">
        <p14:creationId xmlns:p14="http://schemas.microsoft.com/office/powerpoint/2010/main" val="3293818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73B1E4-B6B2-4FCA-99E0-AD99B0AB39C2}"/>
              </a:ext>
            </a:extLst>
          </p:cNvPr>
          <p:cNvSpPr txBox="1"/>
          <p:nvPr/>
        </p:nvSpPr>
        <p:spPr>
          <a:xfrm>
            <a:off x="896471" y="788894"/>
            <a:ext cx="3094504" cy="461665"/>
          </a:xfrm>
          <a:prstGeom prst="rect">
            <a:avLst/>
          </a:prstGeom>
          <a:noFill/>
        </p:spPr>
        <p:txBody>
          <a:bodyPr wrap="square" rtlCol="0">
            <a:spAutoFit/>
          </a:bodyPr>
          <a:lstStyle/>
          <a:p>
            <a:r>
              <a:rPr lang="en-IN" sz="2400" dirty="0"/>
              <a:t>Technology Used</a:t>
            </a:r>
          </a:p>
        </p:txBody>
      </p:sp>
      <p:sp>
        <p:nvSpPr>
          <p:cNvPr id="3" name="TextBox 2">
            <a:extLst>
              <a:ext uri="{FF2B5EF4-FFF2-40B4-BE49-F238E27FC236}">
                <a16:creationId xmlns:a16="http://schemas.microsoft.com/office/drawing/2014/main" id="{9D8D7B0D-0ADB-4525-ABEC-A1AA1006C759}"/>
              </a:ext>
            </a:extLst>
          </p:cNvPr>
          <p:cNvSpPr txBox="1"/>
          <p:nvPr/>
        </p:nvSpPr>
        <p:spPr>
          <a:xfrm>
            <a:off x="2039471" y="2537012"/>
            <a:ext cx="2904565" cy="1261884"/>
          </a:xfrm>
          <a:prstGeom prst="rect">
            <a:avLst/>
          </a:prstGeom>
          <a:noFill/>
        </p:spPr>
        <p:txBody>
          <a:bodyPr wrap="square" rtlCol="0">
            <a:spAutoFit/>
          </a:bodyPr>
          <a:lstStyle/>
          <a:p>
            <a:pPr algn="ctr"/>
            <a:r>
              <a:rPr lang="en-IN" sz="2800" b="1" dirty="0"/>
              <a:t>Frontend</a:t>
            </a:r>
          </a:p>
          <a:p>
            <a:pPr algn="ctr"/>
            <a:r>
              <a:rPr lang="en-IN" sz="2400" dirty="0"/>
              <a:t>Html</a:t>
            </a:r>
          </a:p>
          <a:p>
            <a:pPr algn="ctr"/>
            <a:r>
              <a:rPr lang="en-IN" sz="2400" dirty="0"/>
              <a:t>CSS</a:t>
            </a:r>
          </a:p>
        </p:txBody>
      </p:sp>
      <p:sp>
        <p:nvSpPr>
          <p:cNvPr id="4" name="TextBox 3">
            <a:extLst>
              <a:ext uri="{FF2B5EF4-FFF2-40B4-BE49-F238E27FC236}">
                <a16:creationId xmlns:a16="http://schemas.microsoft.com/office/drawing/2014/main" id="{E4BB02E0-C29A-4E19-BCD7-2F6EF94A3B07}"/>
              </a:ext>
            </a:extLst>
          </p:cNvPr>
          <p:cNvSpPr txBox="1"/>
          <p:nvPr/>
        </p:nvSpPr>
        <p:spPr>
          <a:xfrm>
            <a:off x="6096000" y="2629345"/>
            <a:ext cx="2537011" cy="1077218"/>
          </a:xfrm>
          <a:prstGeom prst="rect">
            <a:avLst/>
          </a:prstGeom>
          <a:noFill/>
        </p:spPr>
        <p:txBody>
          <a:bodyPr wrap="square" rtlCol="0">
            <a:spAutoFit/>
          </a:bodyPr>
          <a:lstStyle/>
          <a:p>
            <a:pPr algn="ctr"/>
            <a:r>
              <a:rPr lang="en-IN" sz="2800" b="1" dirty="0"/>
              <a:t>Backend</a:t>
            </a:r>
          </a:p>
          <a:p>
            <a:pPr algn="ctr"/>
            <a:r>
              <a:rPr lang="en-IN" dirty="0"/>
              <a:t>Java</a:t>
            </a:r>
          </a:p>
          <a:p>
            <a:pPr algn="ctr"/>
            <a:r>
              <a:rPr lang="en-IN" dirty="0" err="1"/>
              <a:t>Mysql</a:t>
            </a:r>
            <a:endParaRPr lang="en-IN" dirty="0"/>
          </a:p>
        </p:txBody>
      </p:sp>
    </p:spTree>
    <p:extLst>
      <p:ext uri="{BB962C8B-B14F-4D97-AF65-F5344CB8AC3E}">
        <p14:creationId xmlns:p14="http://schemas.microsoft.com/office/powerpoint/2010/main" val="189055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57EB-1B67-4FD2-8EDA-0B26B91E478F}"/>
              </a:ext>
            </a:extLst>
          </p:cNvPr>
          <p:cNvSpPr txBox="1"/>
          <p:nvPr/>
        </p:nvSpPr>
        <p:spPr>
          <a:xfrm>
            <a:off x="403412" y="1317812"/>
            <a:ext cx="1299882" cy="584775"/>
          </a:xfrm>
          <a:prstGeom prst="rect">
            <a:avLst/>
          </a:prstGeom>
          <a:noFill/>
        </p:spPr>
        <p:txBody>
          <a:bodyPr wrap="square" rtlCol="0">
            <a:spAutoFit/>
          </a:bodyPr>
          <a:lstStyle/>
          <a:p>
            <a:r>
              <a:rPr lang="en-IN" sz="3200" b="1" dirty="0">
                <a:latin typeface="Arial Rounded MT Bold" panose="020F0704030504030204" pitchFamily="34" charset="0"/>
              </a:rPr>
              <a:t>JAVA</a:t>
            </a:r>
          </a:p>
        </p:txBody>
      </p:sp>
      <p:sp>
        <p:nvSpPr>
          <p:cNvPr id="3" name="TextBox 2">
            <a:extLst>
              <a:ext uri="{FF2B5EF4-FFF2-40B4-BE49-F238E27FC236}">
                <a16:creationId xmlns:a16="http://schemas.microsoft.com/office/drawing/2014/main" id="{1A0B2529-2C01-4FDF-B7E0-89DA87BF3D44}"/>
              </a:ext>
            </a:extLst>
          </p:cNvPr>
          <p:cNvSpPr txBox="1"/>
          <p:nvPr/>
        </p:nvSpPr>
        <p:spPr>
          <a:xfrm>
            <a:off x="779929" y="2644588"/>
            <a:ext cx="9015235" cy="2831544"/>
          </a:xfrm>
          <a:prstGeom prst="rect">
            <a:avLst/>
          </a:prstGeom>
          <a:noFill/>
        </p:spPr>
        <p:txBody>
          <a:bodyPr wrap="square" rtlCol="0">
            <a:spAutoFit/>
          </a:bodyPr>
          <a:lstStyle/>
          <a:p>
            <a:r>
              <a:rPr lang="en-US" sz="2000" dirty="0">
                <a:latin typeface="Arial Rounded MT Bold" panose="020F0704030504030204" pitchFamily="34" charset="0"/>
              </a:rPr>
              <a:t>Java is a </a:t>
            </a:r>
            <a:r>
              <a:rPr lang="en-US" sz="2000" b="1" dirty="0">
                <a:latin typeface="Arial Rounded MT Bold" panose="020F0704030504030204" pitchFamily="34" charset="0"/>
              </a:rPr>
              <a:t>programming language</a:t>
            </a:r>
            <a:r>
              <a:rPr lang="en-US" sz="2000" dirty="0">
                <a:latin typeface="Arial Rounded MT Bold" panose="020F0704030504030204" pitchFamily="34" charset="0"/>
              </a:rPr>
              <a:t> and a </a:t>
            </a:r>
            <a:r>
              <a:rPr lang="en-US" sz="2000" b="1" dirty="0">
                <a:latin typeface="Arial Rounded MT Bold" panose="020F0704030504030204" pitchFamily="34" charset="0"/>
              </a:rPr>
              <a:t>platform</a:t>
            </a:r>
            <a:r>
              <a:rPr lang="en-US" sz="2000" dirty="0">
                <a:latin typeface="Arial Rounded MT Bold" panose="020F0704030504030204" pitchFamily="34" charset="0"/>
              </a:rPr>
              <a:t>. Java is a high level, robust, object-oriented and secure programming language.</a:t>
            </a:r>
          </a:p>
          <a:p>
            <a:endParaRPr lang="en-US" sz="2000" dirty="0">
              <a:latin typeface="Arial Rounded MT Bold" panose="020F0704030504030204" pitchFamily="34" charset="0"/>
            </a:endParaRPr>
          </a:p>
          <a:p>
            <a:r>
              <a:rPr lang="en-US" sz="2000" dirty="0">
                <a:latin typeface="Arial Rounded MT Bold" panose="020F0704030504030204" pitchFamily="34" charset="0"/>
              </a:rPr>
              <a:t>Java was developed by </a:t>
            </a:r>
            <a:r>
              <a:rPr lang="en-US" sz="2000" i="1" dirty="0">
                <a:latin typeface="Arial Rounded MT Bold" panose="020F0704030504030204" pitchFamily="34" charset="0"/>
              </a:rPr>
              <a:t>Sun Microsystems</a:t>
            </a:r>
            <a:r>
              <a:rPr lang="en-US" sz="2000" dirty="0">
                <a:latin typeface="Arial Rounded MT Bold" panose="020F0704030504030204" pitchFamily="34" charset="0"/>
              </a:rPr>
              <a:t> (which is now the subsidiary of Oracle) in the year 1995. </a:t>
            </a:r>
            <a:r>
              <a:rPr lang="en-US" sz="2000" i="1" dirty="0">
                <a:latin typeface="Arial Rounded MT Bold" panose="020F0704030504030204" pitchFamily="34" charset="0"/>
              </a:rPr>
              <a:t>James Gosling</a:t>
            </a:r>
            <a:r>
              <a:rPr lang="en-US" sz="2000" dirty="0">
                <a:latin typeface="Arial Rounded MT Bold" panose="020F0704030504030204" pitchFamily="34" charset="0"/>
              </a:rPr>
              <a:t> is known as the father of Java. Before Java, its name was </a:t>
            </a:r>
            <a:r>
              <a:rPr lang="en-US" sz="2000" i="1" dirty="0">
                <a:latin typeface="Arial Rounded MT Bold" panose="020F0704030504030204" pitchFamily="34" charset="0"/>
              </a:rPr>
              <a:t>Oak</a:t>
            </a:r>
            <a:r>
              <a:rPr lang="en-US" sz="2000" dirty="0">
                <a:latin typeface="Arial Rounded MT Bold" panose="020F0704030504030204" pitchFamily="34" charset="0"/>
              </a:rPr>
              <a:t>. Since Oak was already a registered company, so James Gosling and his team changed the name from Oak to Java.</a:t>
            </a:r>
          </a:p>
          <a:p>
            <a:endParaRPr lang="en-IN" dirty="0"/>
          </a:p>
        </p:txBody>
      </p:sp>
    </p:spTree>
    <p:extLst>
      <p:ext uri="{BB962C8B-B14F-4D97-AF65-F5344CB8AC3E}">
        <p14:creationId xmlns:p14="http://schemas.microsoft.com/office/powerpoint/2010/main" val="2553462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EDC2F1-802D-4B87-8402-03476D0042D8}"/>
              </a:ext>
            </a:extLst>
          </p:cNvPr>
          <p:cNvSpPr txBox="1"/>
          <p:nvPr/>
        </p:nvSpPr>
        <p:spPr>
          <a:xfrm>
            <a:off x="1147481" y="2537012"/>
            <a:ext cx="9091027" cy="2954655"/>
          </a:xfrm>
          <a:prstGeom prst="rect">
            <a:avLst/>
          </a:prstGeom>
          <a:noFill/>
        </p:spPr>
        <p:txBody>
          <a:bodyPr wrap="square" rtlCol="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2400" b="0" i="0" u="none" strike="noStrike" cap="none" dirty="0">
                <a:solidFill>
                  <a:schemeClr val="dk1"/>
                </a:solidFill>
                <a:latin typeface="Times New Roman"/>
                <a:ea typeface="Times New Roman"/>
                <a:cs typeface="Times New Roman"/>
                <a:sym typeface="Times New Roman"/>
              </a:rPr>
              <a:t>MySQL is currently the most popular database management system software used for managing the relational database.</a:t>
            </a:r>
          </a:p>
          <a:p>
            <a:pPr marL="285750" marR="0" lvl="0" indent="-285750" algn="l" rtl="0">
              <a:lnSpc>
                <a:spcPct val="100000"/>
              </a:lnSpc>
              <a:spcBef>
                <a:spcPts val="0"/>
              </a:spcBef>
              <a:spcAft>
                <a:spcPts val="0"/>
              </a:spcAft>
              <a:buClr>
                <a:srgbClr val="000000"/>
              </a:buClr>
              <a:buSzPts val="1800"/>
              <a:buFont typeface="Arial"/>
              <a:buChar char="•"/>
            </a:pPr>
            <a:r>
              <a:rPr lang="en-US" sz="2400" b="0" i="0" u="none" strike="noStrike" cap="none" dirty="0">
                <a:solidFill>
                  <a:schemeClr val="dk1"/>
                </a:solidFill>
                <a:latin typeface="Times New Roman"/>
                <a:ea typeface="Times New Roman"/>
                <a:cs typeface="Times New Roman"/>
                <a:sym typeface="Times New Roman"/>
              </a:rPr>
              <a:t>Open source.</a:t>
            </a:r>
            <a:endParaRPr lang="en-US" sz="2400" dirty="0"/>
          </a:p>
          <a:p>
            <a:pPr marL="285750" marR="0" lvl="0" indent="-285750" algn="l" rtl="0">
              <a:lnSpc>
                <a:spcPct val="100000"/>
              </a:lnSpc>
              <a:spcBef>
                <a:spcPts val="0"/>
              </a:spcBef>
              <a:spcAft>
                <a:spcPts val="0"/>
              </a:spcAft>
              <a:buClr>
                <a:srgbClr val="000000"/>
              </a:buClr>
              <a:buSzPts val="1800"/>
              <a:buFont typeface="Arial"/>
              <a:buChar char="•"/>
            </a:pPr>
            <a:r>
              <a:rPr lang="en-US" sz="2400" b="0" i="0" u="none" strike="noStrike" cap="none" dirty="0">
                <a:solidFill>
                  <a:schemeClr val="dk1"/>
                </a:solidFill>
                <a:latin typeface="Times New Roman"/>
                <a:ea typeface="Times New Roman"/>
                <a:cs typeface="Times New Roman"/>
                <a:sym typeface="Times New Roman"/>
              </a:rPr>
              <a:t>Supported by Oracle Company.</a:t>
            </a:r>
            <a:endParaRPr lang="en-US" sz="2400" dirty="0"/>
          </a:p>
          <a:p>
            <a:pPr marL="285750" marR="0" lvl="0" indent="-285750" algn="l" rtl="0">
              <a:lnSpc>
                <a:spcPct val="100000"/>
              </a:lnSpc>
              <a:spcBef>
                <a:spcPts val="0"/>
              </a:spcBef>
              <a:spcAft>
                <a:spcPts val="0"/>
              </a:spcAft>
              <a:buClr>
                <a:srgbClr val="000000"/>
              </a:buClr>
              <a:buSzPts val="1800"/>
              <a:buFont typeface="Arial"/>
              <a:buChar char="•"/>
            </a:pPr>
            <a:r>
              <a:rPr lang="en-US" sz="2400" b="0" i="0" u="none" strike="noStrike" cap="none" dirty="0">
                <a:solidFill>
                  <a:schemeClr val="dk1"/>
                </a:solidFill>
                <a:latin typeface="Times New Roman"/>
                <a:ea typeface="Times New Roman"/>
                <a:cs typeface="Times New Roman"/>
                <a:sym typeface="Times New Roman"/>
              </a:rPr>
              <a:t>It is commonly used in conjunction with </a:t>
            </a:r>
            <a:r>
              <a:rPr lang="en-US" sz="2400" b="1" i="0" u="sng" strike="noStrike" cap="none" dirty="0">
                <a:solidFill>
                  <a:schemeClr val="dk1"/>
                </a:solidFill>
                <a:latin typeface="Times New Roman"/>
                <a:ea typeface="Times New Roman"/>
                <a:cs typeface="Times New Roman"/>
                <a:sym typeface="Times New Roman"/>
              </a:rPr>
              <a:t>J</a:t>
            </a:r>
            <a:r>
              <a:rPr lang="en-US" sz="2400" b="1" u="sng" dirty="0">
                <a:solidFill>
                  <a:schemeClr val="dk1"/>
                </a:solidFill>
                <a:latin typeface="Times New Roman"/>
                <a:ea typeface="Times New Roman"/>
                <a:cs typeface="Times New Roman"/>
                <a:sym typeface="Times New Roman"/>
              </a:rPr>
              <a:t>DBC </a:t>
            </a:r>
            <a:r>
              <a:rPr lang="en-US" sz="2400" b="0" i="0" u="none" strike="noStrike" cap="none" dirty="0">
                <a:solidFill>
                  <a:schemeClr val="dk1"/>
                </a:solidFill>
                <a:latin typeface="Times New Roman"/>
                <a:ea typeface="Times New Roman"/>
                <a:cs typeface="Times New Roman"/>
                <a:sym typeface="Times New Roman"/>
              </a:rPr>
              <a:t>scripts for creating powerful and dynamic server-side or web-based enterprise applications.</a:t>
            </a:r>
            <a:endParaRPr lang="en-US" sz="2400" dirty="0"/>
          </a:p>
          <a:p>
            <a:endParaRPr lang="en-IN" dirty="0"/>
          </a:p>
        </p:txBody>
      </p:sp>
      <p:sp>
        <p:nvSpPr>
          <p:cNvPr id="3" name="TextBox 2">
            <a:extLst>
              <a:ext uri="{FF2B5EF4-FFF2-40B4-BE49-F238E27FC236}">
                <a16:creationId xmlns:a16="http://schemas.microsoft.com/office/drawing/2014/main" id="{08F9A4E7-734D-4B02-9E35-A2A99A5E59B9}"/>
              </a:ext>
            </a:extLst>
          </p:cNvPr>
          <p:cNvSpPr txBox="1"/>
          <p:nvPr/>
        </p:nvSpPr>
        <p:spPr>
          <a:xfrm>
            <a:off x="600635" y="1353671"/>
            <a:ext cx="3451412" cy="1107996"/>
          </a:xfrm>
          <a:prstGeom prst="rect">
            <a:avLst/>
          </a:prstGeom>
          <a:noFill/>
        </p:spPr>
        <p:txBody>
          <a:bodyPr wrap="square" rtlCol="0">
            <a:spAutoFit/>
          </a:bodyPr>
          <a:lstStyle/>
          <a:p>
            <a:r>
              <a:rPr lang="en-US" sz="4800" b="0" i="0" u="none" strike="noStrike" cap="none" dirty="0">
                <a:solidFill>
                  <a:schemeClr val="dk1"/>
                </a:solidFill>
                <a:latin typeface="Arial Rounded MT Bold" panose="020F0704030504030204" pitchFamily="34" charset="0"/>
                <a:ea typeface="Arial"/>
                <a:cs typeface="Arial"/>
                <a:sym typeface="Arial"/>
              </a:rPr>
              <a:t>MYSQL</a:t>
            </a:r>
          </a:p>
          <a:p>
            <a:endParaRPr lang="en-IN" dirty="0"/>
          </a:p>
        </p:txBody>
      </p:sp>
    </p:spTree>
    <p:extLst>
      <p:ext uri="{BB962C8B-B14F-4D97-AF65-F5344CB8AC3E}">
        <p14:creationId xmlns:p14="http://schemas.microsoft.com/office/powerpoint/2010/main" val="1981684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CAB6F6-72C3-4695-A378-03B30978119C}"/>
              </a:ext>
            </a:extLst>
          </p:cNvPr>
          <p:cNvSpPr txBox="1"/>
          <p:nvPr/>
        </p:nvSpPr>
        <p:spPr>
          <a:xfrm>
            <a:off x="1640542" y="1264024"/>
            <a:ext cx="1559859" cy="523220"/>
          </a:xfrm>
          <a:prstGeom prst="rect">
            <a:avLst/>
          </a:prstGeom>
          <a:noFill/>
        </p:spPr>
        <p:txBody>
          <a:bodyPr wrap="square" rtlCol="0">
            <a:spAutoFit/>
          </a:bodyPr>
          <a:lstStyle/>
          <a:p>
            <a:r>
              <a:rPr lang="en-IN" sz="2800" b="1" dirty="0"/>
              <a:t>ADMIN</a:t>
            </a:r>
          </a:p>
        </p:txBody>
      </p:sp>
      <p:sp>
        <p:nvSpPr>
          <p:cNvPr id="3" name="TextBox 2">
            <a:extLst>
              <a:ext uri="{FF2B5EF4-FFF2-40B4-BE49-F238E27FC236}">
                <a16:creationId xmlns:a16="http://schemas.microsoft.com/office/drawing/2014/main" id="{AB242DF0-0292-4622-97AC-63DC15DAE7E7}"/>
              </a:ext>
            </a:extLst>
          </p:cNvPr>
          <p:cNvSpPr txBox="1"/>
          <p:nvPr/>
        </p:nvSpPr>
        <p:spPr>
          <a:xfrm>
            <a:off x="1837765" y="2393576"/>
            <a:ext cx="3747247" cy="1908215"/>
          </a:xfrm>
          <a:prstGeom prst="rect">
            <a:avLst/>
          </a:prstGeom>
          <a:noFill/>
        </p:spPr>
        <p:txBody>
          <a:bodyPr wrap="square" rtlCol="0">
            <a:spAutoFit/>
          </a:bodyPr>
          <a:lstStyle/>
          <a:p>
            <a:pPr marL="285750" indent="-285750">
              <a:buFont typeface="Arial" panose="020B0604020202020204" pitchFamily="34" charset="0"/>
              <a:buChar char="•"/>
            </a:pPr>
            <a:r>
              <a:rPr lang="en-US" sz="2000" b="0" i="0" u="none" strike="noStrike" cap="none" dirty="0">
                <a:solidFill>
                  <a:srgbClr val="000000"/>
                </a:solidFill>
                <a:latin typeface="Arial"/>
                <a:ea typeface="Arial"/>
                <a:cs typeface="Arial"/>
                <a:sym typeface="Arial"/>
              </a:rPr>
              <a:t>Admin can login/logout</a:t>
            </a:r>
          </a:p>
          <a:p>
            <a:pPr marL="285750" indent="-285750">
              <a:buFont typeface="Arial" panose="020B0604020202020204" pitchFamily="34" charset="0"/>
              <a:buChar char="•"/>
            </a:pPr>
            <a:r>
              <a:rPr lang="en-US" sz="2000" dirty="0">
                <a:solidFill>
                  <a:srgbClr val="000000"/>
                </a:solidFill>
                <a:latin typeface="Arial"/>
                <a:ea typeface="Arial"/>
                <a:cs typeface="Arial"/>
                <a:sym typeface="Arial"/>
              </a:rPr>
              <a:t>Admin add customer / remove</a:t>
            </a:r>
          </a:p>
          <a:p>
            <a:pPr marL="285750" indent="-285750">
              <a:buFont typeface="Arial" panose="020B0604020202020204" pitchFamily="34" charset="0"/>
              <a:buChar char="•"/>
            </a:pPr>
            <a:r>
              <a:rPr lang="en-US" sz="2000" b="0" i="0" u="none" strike="noStrike" cap="none" dirty="0">
                <a:solidFill>
                  <a:srgbClr val="000000"/>
                </a:solidFill>
                <a:latin typeface="Arial"/>
                <a:ea typeface="Arial"/>
                <a:cs typeface="Arial"/>
                <a:sym typeface="Arial"/>
              </a:rPr>
              <a:t>Admin view customer </a:t>
            </a:r>
            <a:r>
              <a:rPr lang="en-US" sz="2000" dirty="0">
                <a:solidFill>
                  <a:srgbClr val="000000"/>
                </a:solidFill>
                <a:latin typeface="Arial"/>
                <a:ea typeface="Arial"/>
                <a:cs typeface="Arial"/>
                <a:sym typeface="Arial"/>
              </a:rPr>
              <a:t>details</a:t>
            </a:r>
            <a:endParaRPr lang="en-US" sz="2000" b="0" i="0" u="none" strike="noStrike" cap="none" dirty="0">
              <a:solidFill>
                <a:srgbClr val="000000"/>
              </a:solidFill>
              <a:latin typeface="Arial"/>
              <a:ea typeface="Arial"/>
              <a:cs typeface="Arial"/>
              <a:sym typeface="Arial"/>
            </a:endParaRPr>
          </a:p>
          <a:p>
            <a:pPr marL="285750" indent="-285750">
              <a:buFont typeface="Arial" panose="020B0604020202020204" pitchFamily="34" charset="0"/>
              <a:buChar char="•"/>
            </a:pPr>
            <a:endParaRPr lang="en-US" sz="2000" b="0" i="0" u="none" strike="noStrike" cap="none" dirty="0">
              <a:solidFill>
                <a:srgbClr val="000000"/>
              </a:solidFill>
              <a:latin typeface="Arial"/>
              <a:ea typeface="Arial"/>
              <a:cs typeface="Arial"/>
              <a:sym typeface="Arial"/>
            </a:endParaRPr>
          </a:p>
          <a:p>
            <a:endParaRPr lang="en-IN" dirty="0"/>
          </a:p>
        </p:txBody>
      </p:sp>
    </p:spTree>
    <p:extLst>
      <p:ext uri="{BB962C8B-B14F-4D97-AF65-F5344CB8AC3E}">
        <p14:creationId xmlns:p14="http://schemas.microsoft.com/office/powerpoint/2010/main" val="1059043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668E9C-B5EB-491A-B4C6-2139F47288CE}"/>
              </a:ext>
            </a:extLst>
          </p:cNvPr>
          <p:cNvSpPr txBox="1"/>
          <p:nvPr/>
        </p:nvSpPr>
        <p:spPr>
          <a:xfrm>
            <a:off x="600635" y="1111624"/>
            <a:ext cx="3424518" cy="584775"/>
          </a:xfrm>
          <a:prstGeom prst="rect">
            <a:avLst/>
          </a:prstGeom>
          <a:noFill/>
        </p:spPr>
        <p:txBody>
          <a:bodyPr wrap="square" rtlCol="0">
            <a:spAutoFit/>
          </a:bodyPr>
          <a:lstStyle/>
          <a:p>
            <a:r>
              <a:rPr lang="en-IN" sz="3200" dirty="0"/>
              <a:t>CUSTOMER</a:t>
            </a:r>
          </a:p>
        </p:txBody>
      </p:sp>
      <p:sp>
        <p:nvSpPr>
          <p:cNvPr id="3" name="TextBox 2">
            <a:extLst>
              <a:ext uri="{FF2B5EF4-FFF2-40B4-BE49-F238E27FC236}">
                <a16:creationId xmlns:a16="http://schemas.microsoft.com/office/drawing/2014/main" id="{EB98E8A7-982A-4EB5-BFE2-5E0941ED4AE8}"/>
              </a:ext>
            </a:extLst>
          </p:cNvPr>
          <p:cNvSpPr txBox="1"/>
          <p:nvPr/>
        </p:nvSpPr>
        <p:spPr>
          <a:xfrm>
            <a:off x="1550894" y="2232212"/>
            <a:ext cx="5504330" cy="1200329"/>
          </a:xfrm>
          <a:prstGeom prst="rect">
            <a:avLst/>
          </a:prstGeom>
          <a:noFill/>
        </p:spPr>
        <p:txBody>
          <a:bodyPr wrap="square" rtlCol="0">
            <a:spAutoFit/>
          </a:bodyPr>
          <a:lstStyle/>
          <a:p>
            <a:pPr marL="285750" indent="-285750">
              <a:buFont typeface="Arial" panose="020B0604020202020204" pitchFamily="34" charset="0"/>
              <a:buChar char="•"/>
            </a:pPr>
            <a:r>
              <a:rPr lang="en-IN" sz="2400" dirty="0"/>
              <a:t>Customer view all details.</a:t>
            </a:r>
          </a:p>
          <a:p>
            <a:pPr marL="285750" indent="-285750">
              <a:buFont typeface="Arial" panose="020B0604020202020204" pitchFamily="34" charset="0"/>
              <a:buChar char="•"/>
            </a:pPr>
            <a:r>
              <a:rPr lang="en-IN" sz="2400" dirty="0"/>
              <a:t>Customer login/logout.</a:t>
            </a:r>
          </a:p>
          <a:p>
            <a:pPr marL="285750" indent="-285750">
              <a:buFont typeface="Arial" panose="020B0604020202020204" pitchFamily="34" charset="0"/>
              <a:buChar char="•"/>
            </a:pPr>
            <a:r>
              <a:rPr lang="en-IN" sz="2400" dirty="0"/>
              <a:t>Customer download details</a:t>
            </a:r>
            <a:r>
              <a:rPr lang="en-IN" dirty="0"/>
              <a:t>.</a:t>
            </a:r>
          </a:p>
        </p:txBody>
      </p:sp>
    </p:spTree>
    <p:extLst>
      <p:ext uri="{BB962C8B-B14F-4D97-AF65-F5344CB8AC3E}">
        <p14:creationId xmlns:p14="http://schemas.microsoft.com/office/powerpoint/2010/main" val="3185038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EFECF4-9C52-42D5-99BE-29AA5A854E54}"/>
              </a:ext>
            </a:extLst>
          </p:cNvPr>
          <p:cNvSpPr txBox="1"/>
          <p:nvPr/>
        </p:nvSpPr>
        <p:spPr>
          <a:xfrm>
            <a:off x="618565" y="896471"/>
            <a:ext cx="2465294" cy="523220"/>
          </a:xfrm>
          <a:prstGeom prst="rect">
            <a:avLst/>
          </a:prstGeom>
          <a:noFill/>
        </p:spPr>
        <p:txBody>
          <a:bodyPr wrap="square" rtlCol="0">
            <a:spAutoFit/>
          </a:bodyPr>
          <a:lstStyle/>
          <a:p>
            <a:r>
              <a:rPr lang="en-IN" sz="2800" dirty="0">
                <a:latin typeface="Arial Rounded MT Bold" panose="020F0704030504030204" pitchFamily="34" charset="0"/>
              </a:rPr>
              <a:t>CUSTOMER</a:t>
            </a:r>
          </a:p>
        </p:txBody>
      </p:sp>
      <p:sp>
        <p:nvSpPr>
          <p:cNvPr id="3" name="Oval 2">
            <a:extLst>
              <a:ext uri="{FF2B5EF4-FFF2-40B4-BE49-F238E27FC236}">
                <a16:creationId xmlns:a16="http://schemas.microsoft.com/office/drawing/2014/main" id="{66EC8B89-5445-4B7C-9D74-70EE617E7C72}"/>
              </a:ext>
            </a:extLst>
          </p:cNvPr>
          <p:cNvSpPr/>
          <p:nvPr/>
        </p:nvSpPr>
        <p:spPr>
          <a:xfrm>
            <a:off x="1819835" y="2823882"/>
            <a:ext cx="1264024" cy="60511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ED488F0C-E0B0-4248-BF34-902BAE9668F4}"/>
              </a:ext>
            </a:extLst>
          </p:cNvPr>
          <p:cNvSpPr txBox="1"/>
          <p:nvPr/>
        </p:nvSpPr>
        <p:spPr>
          <a:xfrm>
            <a:off x="1858549" y="2941775"/>
            <a:ext cx="1264024" cy="369332"/>
          </a:xfrm>
          <a:prstGeom prst="rect">
            <a:avLst/>
          </a:prstGeom>
          <a:noFill/>
        </p:spPr>
        <p:txBody>
          <a:bodyPr wrap="square" rtlCol="0">
            <a:spAutoFit/>
          </a:bodyPr>
          <a:lstStyle/>
          <a:p>
            <a:r>
              <a:rPr lang="en-IN" dirty="0"/>
              <a:t>Customer</a:t>
            </a:r>
          </a:p>
        </p:txBody>
      </p:sp>
      <p:sp>
        <p:nvSpPr>
          <p:cNvPr id="5" name="Oval 4">
            <a:extLst>
              <a:ext uri="{FF2B5EF4-FFF2-40B4-BE49-F238E27FC236}">
                <a16:creationId xmlns:a16="http://schemas.microsoft.com/office/drawing/2014/main" id="{14CE6027-53CE-4D00-99D0-FBED9804AA94}"/>
              </a:ext>
            </a:extLst>
          </p:cNvPr>
          <p:cNvSpPr/>
          <p:nvPr/>
        </p:nvSpPr>
        <p:spPr>
          <a:xfrm>
            <a:off x="5002305" y="986118"/>
            <a:ext cx="2859741" cy="60511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1B3B3EBE-6B5F-4FA3-8D1F-684EE200C8F9}"/>
              </a:ext>
            </a:extLst>
          </p:cNvPr>
          <p:cNvSpPr/>
          <p:nvPr/>
        </p:nvSpPr>
        <p:spPr>
          <a:xfrm>
            <a:off x="5002304" y="1775012"/>
            <a:ext cx="2859741" cy="60511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79A9F269-4BEB-4865-AC4A-8C54FD92C8A4}"/>
              </a:ext>
            </a:extLst>
          </p:cNvPr>
          <p:cNvSpPr/>
          <p:nvPr/>
        </p:nvSpPr>
        <p:spPr>
          <a:xfrm>
            <a:off x="5002304" y="2639216"/>
            <a:ext cx="2859741" cy="60511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E09A263C-72F0-4945-8BD3-0A5B668B84C5}"/>
              </a:ext>
            </a:extLst>
          </p:cNvPr>
          <p:cNvSpPr/>
          <p:nvPr/>
        </p:nvSpPr>
        <p:spPr>
          <a:xfrm>
            <a:off x="5002303" y="3624428"/>
            <a:ext cx="2859741" cy="60511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DD2A7894-7B86-4FCC-B680-594DFCE421CB}"/>
              </a:ext>
            </a:extLst>
          </p:cNvPr>
          <p:cNvSpPr/>
          <p:nvPr/>
        </p:nvSpPr>
        <p:spPr>
          <a:xfrm>
            <a:off x="5002303" y="4413322"/>
            <a:ext cx="2859741" cy="60511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8527C6B0-99DD-4499-8C97-92A54C82E4A2}"/>
              </a:ext>
            </a:extLst>
          </p:cNvPr>
          <p:cNvSpPr/>
          <p:nvPr/>
        </p:nvSpPr>
        <p:spPr>
          <a:xfrm>
            <a:off x="5002303" y="5202232"/>
            <a:ext cx="2859741" cy="60511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312CD40A-4589-42F9-8800-FDB5EC968538}"/>
              </a:ext>
            </a:extLst>
          </p:cNvPr>
          <p:cNvSpPr txBox="1"/>
          <p:nvPr/>
        </p:nvSpPr>
        <p:spPr>
          <a:xfrm flipH="1">
            <a:off x="5631462" y="1091471"/>
            <a:ext cx="1919266" cy="369332"/>
          </a:xfrm>
          <a:prstGeom prst="rect">
            <a:avLst/>
          </a:prstGeom>
          <a:noFill/>
        </p:spPr>
        <p:txBody>
          <a:bodyPr wrap="square" rtlCol="0">
            <a:spAutoFit/>
          </a:bodyPr>
          <a:lstStyle/>
          <a:p>
            <a:r>
              <a:rPr lang="en-IN" dirty="0"/>
              <a:t>New Customer</a:t>
            </a:r>
          </a:p>
        </p:txBody>
      </p:sp>
      <p:sp>
        <p:nvSpPr>
          <p:cNvPr id="12" name="TextBox 11">
            <a:extLst>
              <a:ext uri="{FF2B5EF4-FFF2-40B4-BE49-F238E27FC236}">
                <a16:creationId xmlns:a16="http://schemas.microsoft.com/office/drawing/2014/main" id="{50021AE9-82DA-4626-A74E-6F1F4284122A}"/>
              </a:ext>
            </a:extLst>
          </p:cNvPr>
          <p:cNvSpPr txBox="1"/>
          <p:nvPr/>
        </p:nvSpPr>
        <p:spPr>
          <a:xfrm flipH="1">
            <a:off x="5631462" y="1860631"/>
            <a:ext cx="2082614" cy="369332"/>
          </a:xfrm>
          <a:prstGeom prst="rect">
            <a:avLst/>
          </a:prstGeom>
          <a:noFill/>
        </p:spPr>
        <p:txBody>
          <a:bodyPr wrap="square" rtlCol="0">
            <a:spAutoFit/>
          </a:bodyPr>
          <a:lstStyle/>
          <a:p>
            <a:r>
              <a:rPr lang="en-IN" dirty="0"/>
              <a:t>Customer details</a:t>
            </a:r>
          </a:p>
        </p:txBody>
      </p:sp>
      <p:sp>
        <p:nvSpPr>
          <p:cNvPr id="13" name="TextBox 12">
            <a:extLst>
              <a:ext uri="{FF2B5EF4-FFF2-40B4-BE49-F238E27FC236}">
                <a16:creationId xmlns:a16="http://schemas.microsoft.com/office/drawing/2014/main" id="{627C09A7-2C3A-40C4-99EA-3AA1029BDA62}"/>
              </a:ext>
            </a:extLst>
          </p:cNvPr>
          <p:cNvSpPr txBox="1"/>
          <p:nvPr/>
        </p:nvSpPr>
        <p:spPr>
          <a:xfrm flipH="1">
            <a:off x="5631461" y="2757109"/>
            <a:ext cx="2043957" cy="369332"/>
          </a:xfrm>
          <a:prstGeom prst="rect">
            <a:avLst/>
          </a:prstGeom>
          <a:noFill/>
        </p:spPr>
        <p:txBody>
          <a:bodyPr wrap="square" rtlCol="0">
            <a:spAutoFit/>
          </a:bodyPr>
          <a:lstStyle/>
          <a:p>
            <a:r>
              <a:rPr lang="en-IN" dirty="0"/>
              <a:t>Deposite details</a:t>
            </a:r>
          </a:p>
        </p:txBody>
      </p:sp>
      <p:sp>
        <p:nvSpPr>
          <p:cNvPr id="14" name="TextBox 13">
            <a:extLst>
              <a:ext uri="{FF2B5EF4-FFF2-40B4-BE49-F238E27FC236}">
                <a16:creationId xmlns:a16="http://schemas.microsoft.com/office/drawing/2014/main" id="{EE5D1C92-F8A9-4ECC-AF4D-85EB6AB57AE2}"/>
              </a:ext>
            </a:extLst>
          </p:cNvPr>
          <p:cNvSpPr txBox="1"/>
          <p:nvPr/>
        </p:nvSpPr>
        <p:spPr>
          <a:xfrm flipH="1">
            <a:off x="5631462" y="3742321"/>
            <a:ext cx="1780720" cy="369332"/>
          </a:xfrm>
          <a:prstGeom prst="rect">
            <a:avLst/>
          </a:prstGeom>
          <a:noFill/>
        </p:spPr>
        <p:txBody>
          <a:bodyPr wrap="square" rtlCol="0">
            <a:spAutoFit/>
          </a:bodyPr>
          <a:lstStyle/>
          <a:p>
            <a:r>
              <a:rPr lang="en-IN" dirty="0"/>
              <a:t>Calculate bill</a:t>
            </a:r>
          </a:p>
        </p:txBody>
      </p:sp>
      <p:sp>
        <p:nvSpPr>
          <p:cNvPr id="15" name="TextBox 14">
            <a:extLst>
              <a:ext uri="{FF2B5EF4-FFF2-40B4-BE49-F238E27FC236}">
                <a16:creationId xmlns:a16="http://schemas.microsoft.com/office/drawing/2014/main" id="{34BDD227-18B7-4C5B-A6D1-AB8621AC2B33}"/>
              </a:ext>
            </a:extLst>
          </p:cNvPr>
          <p:cNvSpPr txBox="1"/>
          <p:nvPr/>
        </p:nvSpPr>
        <p:spPr>
          <a:xfrm flipH="1">
            <a:off x="5523784" y="4495010"/>
            <a:ext cx="2100998" cy="369332"/>
          </a:xfrm>
          <a:prstGeom prst="rect">
            <a:avLst/>
          </a:prstGeom>
          <a:noFill/>
        </p:spPr>
        <p:txBody>
          <a:bodyPr wrap="square" rtlCol="0">
            <a:spAutoFit/>
          </a:bodyPr>
          <a:lstStyle/>
          <a:p>
            <a:r>
              <a:rPr lang="en-IN" dirty="0"/>
              <a:t>Delete customer</a:t>
            </a:r>
          </a:p>
        </p:txBody>
      </p:sp>
      <p:sp>
        <p:nvSpPr>
          <p:cNvPr id="16" name="TextBox 15">
            <a:extLst>
              <a:ext uri="{FF2B5EF4-FFF2-40B4-BE49-F238E27FC236}">
                <a16:creationId xmlns:a16="http://schemas.microsoft.com/office/drawing/2014/main" id="{F3F89AC5-321F-4394-88AE-619DA6E9F7A6}"/>
              </a:ext>
            </a:extLst>
          </p:cNvPr>
          <p:cNvSpPr txBox="1"/>
          <p:nvPr/>
        </p:nvSpPr>
        <p:spPr>
          <a:xfrm flipH="1">
            <a:off x="5770008" y="5274607"/>
            <a:ext cx="1780720" cy="369332"/>
          </a:xfrm>
          <a:prstGeom prst="rect">
            <a:avLst/>
          </a:prstGeom>
          <a:noFill/>
        </p:spPr>
        <p:txBody>
          <a:bodyPr wrap="square" rtlCol="0">
            <a:spAutoFit/>
          </a:bodyPr>
          <a:lstStyle/>
          <a:p>
            <a:r>
              <a:rPr lang="en-IN" dirty="0"/>
              <a:t>New Admin</a:t>
            </a:r>
          </a:p>
        </p:txBody>
      </p:sp>
      <p:sp>
        <p:nvSpPr>
          <p:cNvPr id="17" name="TextBox 16">
            <a:extLst>
              <a:ext uri="{FF2B5EF4-FFF2-40B4-BE49-F238E27FC236}">
                <a16:creationId xmlns:a16="http://schemas.microsoft.com/office/drawing/2014/main" id="{18BE1D6F-37CA-4A68-934C-C20D69A638D4}"/>
              </a:ext>
            </a:extLst>
          </p:cNvPr>
          <p:cNvSpPr txBox="1"/>
          <p:nvPr/>
        </p:nvSpPr>
        <p:spPr>
          <a:xfrm flipH="1">
            <a:off x="5894699" y="6112150"/>
            <a:ext cx="1780720" cy="369332"/>
          </a:xfrm>
          <a:prstGeom prst="rect">
            <a:avLst/>
          </a:prstGeom>
          <a:noFill/>
        </p:spPr>
        <p:txBody>
          <a:bodyPr wrap="square" rtlCol="0">
            <a:spAutoFit/>
          </a:bodyPr>
          <a:lstStyle/>
          <a:p>
            <a:r>
              <a:rPr lang="en-IN" dirty="0"/>
              <a:t>Logout</a:t>
            </a:r>
          </a:p>
        </p:txBody>
      </p:sp>
      <p:sp>
        <p:nvSpPr>
          <p:cNvPr id="18" name="Freeform: Shape 17">
            <a:extLst>
              <a:ext uri="{FF2B5EF4-FFF2-40B4-BE49-F238E27FC236}">
                <a16:creationId xmlns:a16="http://schemas.microsoft.com/office/drawing/2014/main" id="{497C07CE-E6C8-4E8A-AF49-6A6500D95A54}"/>
              </a:ext>
            </a:extLst>
          </p:cNvPr>
          <p:cNvSpPr/>
          <p:nvPr/>
        </p:nvSpPr>
        <p:spPr>
          <a:xfrm>
            <a:off x="2501153" y="1177880"/>
            <a:ext cx="2711772" cy="1637038"/>
          </a:xfrm>
          <a:custGeom>
            <a:avLst/>
            <a:gdLst>
              <a:gd name="connsiteX0" fmla="*/ 0 w 2711772"/>
              <a:gd name="connsiteY0" fmla="*/ 1637038 h 1637038"/>
              <a:gd name="connsiteX1" fmla="*/ 2519082 w 2711772"/>
              <a:gd name="connsiteY1" fmla="*/ 122002 h 1637038"/>
              <a:gd name="connsiteX2" fmla="*/ 2537012 w 2711772"/>
              <a:gd name="connsiteY2" fmla="*/ 95108 h 1637038"/>
              <a:gd name="connsiteX3" fmla="*/ 2519082 w 2711772"/>
              <a:gd name="connsiteY3" fmla="*/ 130967 h 1637038"/>
              <a:gd name="connsiteX4" fmla="*/ 2528047 w 2711772"/>
              <a:gd name="connsiteY4" fmla="*/ 104073 h 163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1772" h="1637038">
                <a:moveTo>
                  <a:pt x="0" y="1637038"/>
                </a:moveTo>
                <a:lnTo>
                  <a:pt x="2519082" y="122002"/>
                </a:lnTo>
                <a:cubicBezTo>
                  <a:pt x="2941917" y="-134986"/>
                  <a:pt x="2537012" y="93614"/>
                  <a:pt x="2537012" y="95108"/>
                </a:cubicBezTo>
                <a:cubicBezTo>
                  <a:pt x="2537012" y="96602"/>
                  <a:pt x="2520576" y="129473"/>
                  <a:pt x="2519082" y="130967"/>
                </a:cubicBezTo>
                <a:cubicBezTo>
                  <a:pt x="2517588" y="132461"/>
                  <a:pt x="2522817" y="118267"/>
                  <a:pt x="2528047" y="104073"/>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Freeform: Shape 18">
            <a:extLst>
              <a:ext uri="{FF2B5EF4-FFF2-40B4-BE49-F238E27FC236}">
                <a16:creationId xmlns:a16="http://schemas.microsoft.com/office/drawing/2014/main" id="{F38B4BAE-0F36-4005-A90B-F3B1BDD824D9}"/>
              </a:ext>
            </a:extLst>
          </p:cNvPr>
          <p:cNvSpPr/>
          <p:nvPr/>
        </p:nvSpPr>
        <p:spPr>
          <a:xfrm>
            <a:off x="2779059" y="2061882"/>
            <a:ext cx="2268070" cy="797859"/>
          </a:xfrm>
          <a:custGeom>
            <a:avLst/>
            <a:gdLst>
              <a:gd name="connsiteX0" fmla="*/ 0 w 2268070"/>
              <a:gd name="connsiteY0" fmla="*/ 797859 h 797859"/>
              <a:gd name="connsiteX1" fmla="*/ 2223247 w 2268070"/>
              <a:gd name="connsiteY1" fmla="*/ 26894 h 797859"/>
              <a:gd name="connsiteX2" fmla="*/ 2223247 w 2268070"/>
              <a:gd name="connsiteY2" fmla="*/ 26894 h 797859"/>
              <a:gd name="connsiteX3" fmla="*/ 2232212 w 2268070"/>
              <a:gd name="connsiteY3" fmla="*/ 35859 h 797859"/>
              <a:gd name="connsiteX4" fmla="*/ 2268070 w 2268070"/>
              <a:gd name="connsiteY4" fmla="*/ 0 h 797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8070" h="797859">
                <a:moveTo>
                  <a:pt x="0" y="797859"/>
                </a:moveTo>
                <a:lnTo>
                  <a:pt x="2223247" y="26894"/>
                </a:lnTo>
                <a:lnTo>
                  <a:pt x="2223247" y="26894"/>
                </a:lnTo>
                <a:cubicBezTo>
                  <a:pt x="2224741" y="28388"/>
                  <a:pt x="2224742" y="40341"/>
                  <a:pt x="2232212" y="35859"/>
                </a:cubicBezTo>
                <a:cubicBezTo>
                  <a:pt x="2239682" y="31377"/>
                  <a:pt x="2253876" y="15688"/>
                  <a:pt x="22680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Freeform: Shape 19">
            <a:extLst>
              <a:ext uri="{FF2B5EF4-FFF2-40B4-BE49-F238E27FC236}">
                <a16:creationId xmlns:a16="http://schemas.microsoft.com/office/drawing/2014/main" id="{59B8B938-9EAE-425F-AF49-8D8D69E77DC3}"/>
              </a:ext>
            </a:extLst>
          </p:cNvPr>
          <p:cNvSpPr/>
          <p:nvPr/>
        </p:nvSpPr>
        <p:spPr>
          <a:xfrm>
            <a:off x="3030071" y="2904565"/>
            <a:ext cx="2026023" cy="107576"/>
          </a:xfrm>
          <a:custGeom>
            <a:avLst/>
            <a:gdLst>
              <a:gd name="connsiteX0" fmla="*/ 0 w 2026023"/>
              <a:gd name="connsiteY0" fmla="*/ 107576 h 107576"/>
              <a:gd name="connsiteX1" fmla="*/ 1981200 w 2026023"/>
              <a:gd name="connsiteY1" fmla="*/ 26894 h 107576"/>
              <a:gd name="connsiteX2" fmla="*/ 1981200 w 2026023"/>
              <a:gd name="connsiteY2" fmla="*/ 26894 h 107576"/>
              <a:gd name="connsiteX3" fmla="*/ 2017058 w 2026023"/>
              <a:gd name="connsiteY3" fmla="*/ 35859 h 107576"/>
              <a:gd name="connsiteX4" fmla="*/ 1999129 w 2026023"/>
              <a:gd name="connsiteY4" fmla="*/ 8964 h 107576"/>
              <a:gd name="connsiteX5" fmla="*/ 1999129 w 2026023"/>
              <a:gd name="connsiteY5" fmla="*/ 8964 h 107576"/>
              <a:gd name="connsiteX6" fmla="*/ 2026023 w 2026023"/>
              <a:gd name="connsiteY6" fmla="*/ 62753 h 107576"/>
              <a:gd name="connsiteX7" fmla="*/ 1990164 w 2026023"/>
              <a:gd name="connsiteY7" fmla="*/ 71717 h 107576"/>
              <a:gd name="connsiteX8" fmla="*/ 1972235 w 2026023"/>
              <a:gd name="connsiteY8" fmla="*/ 0 h 107576"/>
              <a:gd name="connsiteX9" fmla="*/ 1972235 w 2026023"/>
              <a:gd name="connsiteY9" fmla="*/ 0 h 107576"/>
              <a:gd name="connsiteX10" fmla="*/ 1981200 w 2026023"/>
              <a:gd name="connsiteY10" fmla="*/ 62753 h 10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26023" h="107576">
                <a:moveTo>
                  <a:pt x="0" y="107576"/>
                </a:moveTo>
                <a:lnTo>
                  <a:pt x="1981200" y="26894"/>
                </a:lnTo>
                <a:lnTo>
                  <a:pt x="1981200" y="26894"/>
                </a:lnTo>
                <a:cubicBezTo>
                  <a:pt x="1987176" y="28388"/>
                  <a:pt x="2014070" y="38847"/>
                  <a:pt x="2017058" y="35859"/>
                </a:cubicBezTo>
                <a:cubicBezTo>
                  <a:pt x="2020046" y="32871"/>
                  <a:pt x="1999129" y="8964"/>
                  <a:pt x="1999129" y="8964"/>
                </a:cubicBezTo>
                <a:lnTo>
                  <a:pt x="1999129" y="8964"/>
                </a:lnTo>
                <a:lnTo>
                  <a:pt x="2026023" y="62753"/>
                </a:lnTo>
                <a:cubicBezTo>
                  <a:pt x="2024529" y="73212"/>
                  <a:pt x="1999129" y="82176"/>
                  <a:pt x="1990164" y="71717"/>
                </a:cubicBezTo>
                <a:cubicBezTo>
                  <a:pt x="1981199" y="61258"/>
                  <a:pt x="1972235" y="0"/>
                  <a:pt x="1972235" y="0"/>
                </a:cubicBezTo>
                <a:lnTo>
                  <a:pt x="1972235" y="0"/>
                </a:lnTo>
                <a:lnTo>
                  <a:pt x="1981200" y="62753"/>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Freeform: Shape 20">
            <a:extLst>
              <a:ext uri="{FF2B5EF4-FFF2-40B4-BE49-F238E27FC236}">
                <a16:creationId xmlns:a16="http://schemas.microsoft.com/office/drawing/2014/main" id="{3FEF30A2-8F11-4265-A7CB-5F878B0689F1}"/>
              </a:ext>
            </a:extLst>
          </p:cNvPr>
          <p:cNvSpPr/>
          <p:nvPr/>
        </p:nvSpPr>
        <p:spPr>
          <a:xfrm>
            <a:off x="3021106" y="3254188"/>
            <a:ext cx="1990165" cy="744071"/>
          </a:xfrm>
          <a:custGeom>
            <a:avLst/>
            <a:gdLst>
              <a:gd name="connsiteX0" fmla="*/ 0 w 1990165"/>
              <a:gd name="connsiteY0" fmla="*/ 0 h 744071"/>
              <a:gd name="connsiteX1" fmla="*/ 1990165 w 1990165"/>
              <a:gd name="connsiteY1" fmla="*/ 636494 h 744071"/>
              <a:gd name="connsiteX2" fmla="*/ 1990165 w 1990165"/>
              <a:gd name="connsiteY2" fmla="*/ 636494 h 744071"/>
              <a:gd name="connsiteX3" fmla="*/ 1909482 w 1990165"/>
              <a:gd name="connsiteY3" fmla="*/ 744071 h 744071"/>
            </a:gdLst>
            <a:ahLst/>
            <a:cxnLst>
              <a:cxn ang="0">
                <a:pos x="connsiteX0" y="connsiteY0"/>
              </a:cxn>
              <a:cxn ang="0">
                <a:pos x="connsiteX1" y="connsiteY1"/>
              </a:cxn>
              <a:cxn ang="0">
                <a:pos x="connsiteX2" y="connsiteY2"/>
              </a:cxn>
              <a:cxn ang="0">
                <a:pos x="connsiteX3" y="connsiteY3"/>
              </a:cxn>
            </a:cxnLst>
            <a:rect l="l" t="t" r="r" b="b"/>
            <a:pathLst>
              <a:path w="1990165" h="744071">
                <a:moveTo>
                  <a:pt x="0" y="0"/>
                </a:moveTo>
                <a:lnTo>
                  <a:pt x="1990165" y="636494"/>
                </a:lnTo>
                <a:lnTo>
                  <a:pt x="1990165" y="636494"/>
                </a:lnTo>
                <a:lnTo>
                  <a:pt x="1909482" y="744071"/>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id="{BCB840BC-ECCD-44CA-99D8-5DE301288785}"/>
              </a:ext>
            </a:extLst>
          </p:cNvPr>
          <p:cNvSpPr/>
          <p:nvPr/>
        </p:nvSpPr>
        <p:spPr>
          <a:xfrm>
            <a:off x="2734235" y="3406588"/>
            <a:ext cx="2259106" cy="1335741"/>
          </a:xfrm>
          <a:custGeom>
            <a:avLst/>
            <a:gdLst>
              <a:gd name="connsiteX0" fmla="*/ 0 w 2259106"/>
              <a:gd name="connsiteY0" fmla="*/ 0 h 1335741"/>
              <a:gd name="connsiteX1" fmla="*/ 2250141 w 2259106"/>
              <a:gd name="connsiteY1" fmla="*/ 1290918 h 1335741"/>
              <a:gd name="connsiteX2" fmla="*/ 2250141 w 2259106"/>
              <a:gd name="connsiteY2" fmla="*/ 1290918 h 1335741"/>
              <a:gd name="connsiteX3" fmla="*/ 2259106 w 2259106"/>
              <a:gd name="connsiteY3" fmla="*/ 1335741 h 1335741"/>
            </a:gdLst>
            <a:ahLst/>
            <a:cxnLst>
              <a:cxn ang="0">
                <a:pos x="connsiteX0" y="connsiteY0"/>
              </a:cxn>
              <a:cxn ang="0">
                <a:pos x="connsiteX1" y="connsiteY1"/>
              </a:cxn>
              <a:cxn ang="0">
                <a:pos x="connsiteX2" y="connsiteY2"/>
              </a:cxn>
              <a:cxn ang="0">
                <a:pos x="connsiteX3" y="connsiteY3"/>
              </a:cxn>
            </a:cxnLst>
            <a:rect l="l" t="t" r="r" b="b"/>
            <a:pathLst>
              <a:path w="2259106" h="1335741">
                <a:moveTo>
                  <a:pt x="0" y="0"/>
                </a:moveTo>
                <a:lnTo>
                  <a:pt x="2250141" y="1290918"/>
                </a:lnTo>
                <a:lnTo>
                  <a:pt x="2250141" y="1290918"/>
                </a:lnTo>
                <a:lnTo>
                  <a:pt x="2259106" y="1335741"/>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Freeform: Shape 22">
            <a:extLst>
              <a:ext uri="{FF2B5EF4-FFF2-40B4-BE49-F238E27FC236}">
                <a16:creationId xmlns:a16="http://schemas.microsoft.com/office/drawing/2014/main" id="{18DD53ED-ABF4-4C1F-8EC3-8FDB6FE14A62}"/>
              </a:ext>
            </a:extLst>
          </p:cNvPr>
          <p:cNvSpPr/>
          <p:nvPr/>
        </p:nvSpPr>
        <p:spPr>
          <a:xfrm>
            <a:off x="2438400" y="3424518"/>
            <a:ext cx="2581835" cy="2088776"/>
          </a:xfrm>
          <a:custGeom>
            <a:avLst/>
            <a:gdLst>
              <a:gd name="connsiteX0" fmla="*/ 0 w 2581835"/>
              <a:gd name="connsiteY0" fmla="*/ 0 h 2088776"/>
              <a:gd name="connsiteX1" fmla="*/ 2581835 w 2581835"/>
              <a:gd name="connsiteY1" fmla="*/ 2017058 h 2088776"/>
              <a:gd name="connsiteX2" fmla="*/ 2581835 w 2581835"/>
              <a:gd name="connsiteY2" fmla="*/ 2017058 h 2088776"/>
              <a:gd name="connsiteX3" fmla="*/ 2537012 w 2581835"/>
              <a:gd name="connsiteY3" fmla="*/ 2088776 h 2088776"/>
            </a:gdLst>
            <a:ahLst/>
            <a:cxnLst>
              <a:cxn ang="0">
                <a:pos x="connsiteX0" y="connsiteY0"/>
              </a:cxn>
              <a:cxn ang="0">
                <a:pos x="connsiteX1" y="connsiteY1"/>
              </a:cxn>
              <a:cxn ang="0">
                <a:pos x="connsiteX2" y="connsiteY2"/>
              </a:cxn>
              <a:cxn ang="0">
                <a:pos x="connsiteX3" y="connsiteY3"/>
              </a:cxn>
            </a:cxnLst>
            <a:rect l="l" t="t" r="r" b="b"/>
            <a:pathLst>
              <a:path w="2581835" h="2088776">
                <a:moveTo>
                  <a:pt x="0" y="0"/>
                </a:moveTo>
                <a:lnTo>
                  <a:pt x="2581835" y="2017058"/>
                </a:lnTo>
                <a:lnTo>
                  <a:pt x="2581835" y="2017058"/>
                </a:lnTo>
                <a:lnTo>
                  <a:pt x="2537012" y="2088776"/>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Freeform: Shape 23">
            <a:extLst>
              <a:ext uri="{FF2B5EF4-FFF2-40B4-BE49-F238E27FC236}">
                <a16:creationId xmlns:a16="http://schemas.microsoft.com/office/drawing/2014/main" id="{43D5D500-CD8A-437E-BF13-8AEED5916840}"/>
              </a:ext>
            </a:extLst>
          </p:cNvPr>
          <p:cNvSpPr/>
          <p:nvPr/>
        </p:nvSpPr>
        <p:spPr>
          <a:xfrm>
            <a:off x="2250141" y="3379694"/>
            <a:ext cx="2743200" cy="2922494"/>
          </a:xfrm>
          <a:custGeom>
            <a:avLst/>
            <a:gdLst>
              <a:gd name="connsiteX0" fmla="*/ 0 w 2743200"/>
              <a:gd name="connsiteY0" fmla="*/ 0 h 2922494"/>
              <a:gd name="connsiteX1" fmla="*/ 2743200 w 2743200"/>
              <a:gd name="connsiteY1" fmla="*/ 2922494 h 2922494"/>
              <a:gd name="connsiteX2" fmla="*/ 2743200 w 2743200"/>
              <a:gd name="connsiteY2" fmla="*/ 2922494 h 2922494"/>
              <a:gd name="connsiteX3" fmla="*/ 2743200 w 2743200"/>
              <a:gd name="connsiteY3" fmla="*/ 2922494 h 2922494"/>
            </a:gdLst>
            <a:ahLst/>
            <a:cxnLst>
              <a:cxn ang="0">
                <a:pos x="connsiteX0" y="connsiteY0"/>
              </a:cxn>
              <a:cxn ang="0">
                <a:pos x="connsiteX1" y="connsiteY1"/>
              </a:cxn>
              <a:cxn ang="0">
                <a:pos x="connsiteX2" y="connsiteY2"/>
              </a:cxn>
              <a:cxn ang="0">
                <a:pos x="connsiteX3" y="connsiteY3"/>
              </a:cxn>
            </a:cxnLst>
            <a:rect l="l" t="t" r="r" b="b"/>
            <a:pathLst>
              <a:path w="2743200" h="2922494">
                <a:moveTo>
                  <a:pt x="0" y="0"/>
                </a:moveTo>
                <a:lnTo>
                  <a:pt x="2743200" y="2922494"/>
                </a:lnTo>
                <a:lnTo>
                  <a:pt x="2743200" y="2922494"/>
                </a:lnTo>
                <a:lnTo>
                  <a:pt x="2743200" y="2922494"/>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779C79F6-906D-4E54-B365-8F6BF5445C3E}"/>
              </a:ext>
            </a:extLst>
          </p:cNvPr>
          <p:cNvSpPr/>
          <p:nvPr/>
        </p:nvSpPr>
        <p:spPr>
          <a:xfrm>
            <a:off x="5020235" y="5991142"/>
            <a:ext cx="2655184" cy="5907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43474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76A977-965A-426B-935A-ACD0BB7A7FC9}"/>
              </a:ext>
            </a:extLst>
          </p:cNvPr>
          <p:cNvSpPr txBox="1"/>
          <p:nvPr/>
        </p:nvSpPr>
        <p:spPr>
          <a:xfrm>
            <a:off x="2250140" y="2008094"/>
            <a:ext cx="8532159" cy="3046988"/>
          </a:xfrm>
          <a:prstGeom prst="rect">
            <a:avLst/>
          </a:prstGeom>
          <a:noFill/>
        </p:spPr>
        <p:txBody>
          <a:bodyPr wrap="square" rtlCol="0">
            <a:spAutoFit/>
          </a:bodyPr>
          <a:lstStyle/>
          <a:p>
            <a:r>
              <a:rPr lang="en-IN" sz="9600" b="1" dirty="0"/>
              <a:t>THANK </a:t>
            </a:r>
          </a:p>
          <a:p>
            <a:r>
              <a:rPr lang="en-IN" sz="9600" b="1" dirty="0"/>
              <a:t>               YOU</a:t>
            </a:r>
          </a:p>
        </p:txBody>
      </p:sp>
    </p:spTree>
    <p:extLst>
      <p:ext uri="{BB962C8B-B14F-4D97-AF65-F5344CB8AC3E}">
        <p14:creationId xmlns:p14="http://schemas.microsoft.com/office/powerpoint/2010/main" val="1632977939"/>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93</TotalTime>
  <Words>363</Words>
  <Application>Microsoft Office PowerPoint</Application>
  <PresentationFormat>Widescreen</PresentationFormat>
  <Paragraphs>54</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Arial Rounded MT Bold</vt:lpstr>
      <vt:lpstr>Century Gothic</vt:lpstr>
      <vt:lpstr>Söhne</vt:lpstr>
      <vt:lpstr>Times New Roman</vt:lpstr>
      <vt:lpstr>Wingdings 3</vt: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dc:creator>
  <cp:lastModifiedBy>Md Hasnain Rahmani</cp:lastModifiedBy>
  <cp:revision>6</cp:revision>
  <dcterms:created xsi:type="dcterms:W3CDTF">2023-06-10T06:14:59Z</dcterms:created>
  <dcterms:modified xsi:type="dcterms:W3CDTF">2023-06-12T08:28:06Z</dcterms:modified>
</cp:coreProperties>
</file>